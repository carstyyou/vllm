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1" r:id="rId12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8755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Microsoft YaHei"/>
              </a:rPr>
              <a:t>FlashInfer moe_gemm_mxfp8_nt_groupwise()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2412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268"/>
                </a:solidFill>
                <a:latin typeface="Microsoft YaHei"/>
              </a:rPr>
              <a:t>Zero-padding grouped GEMM · MXFP8 UE8M0 group scaling · SM120 CuTe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6692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600" b="1">
                <a:solidFill>
                  <a:srgbClr val="76B9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4088"/>
            <a:ext cx="18013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19" b="1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51560"/>
            <a:ext cx="11045952" cy="566928"/>
          </a:xfrm>
          <a:prstGeom prst="roundRect">
            <a:avLst/>
          </a:prstGeom>
          <a:solidFill>
            <a:srgbClr val="2B2F33"/>
          </a:solidFill>
          <a:ln w="1270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161288"/>
            <a:ext cx="10561320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out = moe_gemm_mxfp8_nt_groupwise(a, b, a_scale, b_scale, m_indptr, scale_granularity_mnk=(1, 1, 32))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10512"/>
            <a:ext cx="3877056" cy="2871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输入 / 输出契约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9152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9152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[ΣMₑ, 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359152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FP8 E4M3 · token-packed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24912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24912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[E, N, 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724912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FP8 E4M3 · per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090672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SFA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90672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[Mₚ, Kₛ]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3090672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4×UE8M0 packed / int32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56432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SFB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56432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[E, N, Kₛ]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3456432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4×UE8M0 packed / int32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22191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m_indptr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22191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[E+1]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" y="3822191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int32 CSR prefix 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187952"/>
            <a:ext cx="6583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4E7D00"/>
                </a:solidFill>
                <a:latin typeface="Arial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187952"/>
            <a:ext cx="1060704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80" b="1">
                <a:solidFill>
                  <a:srgbClr val="1A1A1A"/>
                </a:solidFill>
                <a:latin typeface="Arial"/>
              </a:rPr>
              <a:t>[ΣMₑ, 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187952"/>
            <a:ext cx="166420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0">
                <a:solidFill>
                  <a:srgbClr val="5B6268"/>
                </a:solidFill>
                <a:latin typeface="Arial"/>
              </a:rPr>
              <a:t>BF16 · token-packed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8576" y="1810512"/>
            <a:ext cx="2852928" cy="2871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1965960"/>
            <a:ext cx="2157984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Grouped NT 语义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377440"/>
            <a:ext cx="201168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B6268"/>
                </a:solidFill>
                <a:latin typeface="Microsoft YaHei"/>
              </a:rPr>
              <a:t>对每个 expert e：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88336"/>
            <a:ext cx="2359152" cy="310896"/>
          </a:xfrm>
          <a:prstGeom prst="rect">
            <a:avLst/>
          </a:prstGeom>
          <a:solidFill>
            <a:srgbClr val="F2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2715768"/>
            <a:ext cx="217627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80" b="0">
                <a:solidFill>
                  <a:srgbClr val="2B2F33"/>
                </a:solidFill>
                <a:latin typeface="Arial"/>
              </a:rPr>
              <a:t>p₀ = m_indptr[e]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090672"/>
            <a:ext cx="2359152" cy="310896"/>
          </a:xfrm>
          <a:prstGeom prst="rect">
            <a:avLst/>
          </a:prstGeom>
          <a:solidFill>
            <a:srgbClr val="F2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118104"/>
            <a:ext cx="217627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80" b="0">
                <a:solidFill>
                  <a:srgbClr val="2B2F33"/>
                </a:solidFill>
                <a:latin typeface="Arial"/>
              </a:rPr>
              <a:t>p₁ = m_indptr[e+1]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493008"/>
            <a:ext cx="2359152" cy="310896"/>
          </a:xfrm>
          <a:prstGeom prst="rect">
            <a:avLst/>
          </a:prstGeom>
          <a:solidFill>
            <a:srgbClr val="F2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3520440"/>
            <a:ext cx="217627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80" b="0">
                <a:solidFill>
                  <a:srgbClr val="2B2F33"/>
                </a:solidFill>
                <a:latin typeface="Arial"/>
              </a:rPr>
              <a:t>Aₑ = A[p₀:p₁, :]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895344"/>
            <a:ext cx="2359152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922776"/>
            <a:ext cx="217627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40" b="1">
                <a:solidFill>
                  <a:srgbClr val="4E7D00"/>
                </a:solidFill>
                <a:latin typeface="Arial"/>
              </a:rPr>
              <a:t>D[p₀:p₁, :] = Aₑ · B[e]ᵀ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352544"/>
            <a:ext cx="235915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8A9197"/>
                </a:solidFill>
                <a:latin typeface="Microsoft YaHei"/>
              </a:rPr>
              <a:t>N×T：A 不转置，B 在 GEMM 中按转置语义读取。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26096" y="1810512"/>
            <a:ext cx="3986784" cy="2871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1965960"/>
            <a:ext cx="260604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FlashInfer 执行映射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359152"/>
            <a:ext cx="329184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2359152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359152"/>
            <a:ext cx="2962656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40" b="0">
                <a:solidFill>
                  <a:srgbClr val="2B2F33"/>
                </a:solidFill>
                <a:latin typeface="Microsoft YaHei"/>
              </a:rPr>
              <a:t>检查 dtype / shape / scale contract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2779776"/>
            <a:ext cx="329184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2779776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779776"/>
            <a:ext cx="2962656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40" b="0">
                <a:solidFill>
                  <a:srgbClr val="2B2F33"/>
                </a:solidFill>
                <a:latin typeface="Microsoft YaHei"/>
              </a:rPr>
              <a:t>按 shape 选择 TileM / TileK 配置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200400"/>
            <a:ext cx="329184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200400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200400"/>
            <a:ext cx="2962656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40" b="0">
                <a:solidFill>
                  <a:srgbClr val="2B2F33"/>
                </a:solidFill>
                <a:latin typeface="Microsoft YaHei"/>
              </a:rPr>
              <a:t>启动 grid = num_sms 的 persistent kernel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621024"/>
            <a:ext cx="329184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3621024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621024"/>
            <a:ext cx="2962656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40" b="0">
                <a:solidFill>
                  <a:srgbClr val="2B2F33"/>
                </a:solidFill>
                <a:latin typeface="Microsoft YaHei"/>
              </a:rPr>
              <a:t>cooperative CTA 领取并计算 expert tile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4041648"/>
            <a:ext cx="329184" cy="310896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0" y="4041648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041648"/>
            <a:ext cx="2962656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40" b="0">
                <a:solidFill>
                  <a:srgbClr val="2B2F33"/>
                </a:solidFill>
                <a:latin typeface="Microsoft YaHei"/>
              </a:rPr>
              <a:t>按原 token-packed 行序写回 BF16 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4882896"/>
            <a:ext cx="11045952" cy="1389888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029200"/>
            <a:ext cx="99669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</a:rPr>
              <a:t>Zero-padding layout：A / D 保持 exact，只有 SFA backing storage 做每 expert 4-row 对齐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468112"/>
            <a:ext cx="6400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5B6268"/>
                </a:solidFill>
                <a:latin typeface="Arial"/>
              </a:rPr>
              <a:t>A /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99616" y="542239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9616" y="5440680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4E7D00"/>
                </a:solidFill>
                <a:latin typeface="Arial"/>
              </a:rPr>
              <a:t>expert 0 · M₀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71215" y="542239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71215" y="5440680"/>
            <a:ext cx="118872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4E7D00"/>
                </a:solidFill>
                <a:latin typeface="Arial"/>
              </a:rPr>
              <a:t>expert 1 · M₁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59935" y="542239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59935" y="5440680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4E7D00"/>
                </a:solidFill>
                <a:latin typeface="Arial"/>
              </a:rPr>
              <a:t>expert 2 · M₂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5870448"/>
            <a:ext cx="6400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5B6268"/>
                </a:solidFill>
                <a:latin typeface="Arial"/>
              </a:rPr>
              <a:t>SFA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99616" y="5824728"/>
            <a:ext cx="1536192" cy="292608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99616" y="5833872"/>
            <a:ext cx="153619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4E7D00"/>
                </a:solidFill>
                <a:latin typeface="Arial"/>
              </a:rPr>
              <a:t>align4(M₀)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35808" y="5824728"/>
            <a:ext cx="1353312" cy="292608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35808" y="5833872"/>
            <a:ext cx="135331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4E7D00"/>
                </a:solidFill>
                <a:latin typeface="Arial"/>
              </a:rPr>
              <a:t>align4(M₁)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5824728"/>
            <a:ext cx="1719072" cy="292608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9120" y="5833872"/>
            <a:ext cx="1719072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4E7D00"/>
                </a:solidFill>
                <a:latin typeface="Arial"/>
              </a:rPr>
              <a:t>align4(M₂)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76288" y="5522976"/>
            <a:ext cx="4114800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B2F33"/>
                </a:solidFill>
                <a:latin typeface="Arial"/>
              </a:rPr>
              <a:t>m_indptr = [0, M₀, M₀+M₁, ΣMₑ]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9984" y="5852160"/>
            <a:ext cx="4407408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5B6268"/>
                </a:solidFill>
                <a:latin typeface="Microsoft YaHei"/>
              </a:rPr>
              <a:t>scheduler 用它恢复每个 expert 的真实 M 范围；A/D 不产生 padding rows。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30352" y="6519672"/>
            <a:ext cx="11128248" cy="0"/>
          </a:xfrm>
          <a:prstGeom prst="line">
            <a:avLst/>
          </a:prstGeom>
          <a:ln w="889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48640" y="6547104"/>
            <a:ext cx="932688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40" b="0">
                <a:solidFill>
                  <a:srgbClr val="8A9197"/>
                </a:solidFill>
                <a:latin typeface="Microsoft YaHei"/>
              </a:rPr>
              <a:t>Source: flashinfer/grouped_mm/cute_sm120_mxfp8_groupwise/core.py; csrc/cute_sm120_mxfp8_groupwise/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40112" y="6547104"/>
            <a:ext cx="160020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40" b="0">
                <a:solidFill>
                  <a:srgbClr val="8A9197"/>
                </a:solidFill>
                <a:latin typeface="Arial"/>
              </a:rPr>
              <a:t>CuTe SM120 MXFP8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8755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Microsoft YaHei"/>
              </a:rPr>
              <a:t>Cooperative CTA Dataflow &amp; SwapAB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2412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268"/>
                </a:solidFill>
                <a:latin typeface="Microsoft YaHei"/>
              </a:rPr>
              <a:t>统一 persistent mainloop；按 GemmType / shape 选择 epilogue，small-M 通过 SwapAB 映射到 internal TileN=8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6692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600" b="1">
                <a:solidFill>
                  <a:srgbClr val="76B900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4088"/>
            <a:ext cx="18013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19" b="1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088136"/>
            <a:ext cx="118872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50" b="1">
                <a:solidFill>
                  <a:srgbClr val="4E7D00"/>
                </a:solidFill>
                <a:latin typeface="Arial"/>
              </a:rPr>
              <a:t>①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71600"/>
            <a:ext cx="2560320" cy="603504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2340863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80" b="1">
                <a:solidFill>
                  <a:srgbClr val="2B2F33"/>
                </a:solidFill>
                <a:latin typeface="Arial"/>
              </a:rPr>
              <a:t>TMA descriptor prefetch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2340863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5B6268"/>
                </a:solidFill>
                <a:latin typeface="Arial"/>
              </a:rPr>
              <a:t>one elected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608" y="1371600"/>
            <a:ext cx="2587752" cy="603504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6" y="1435608"/>
            <a:ext cx="2368296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80" b="1">
                <a:solidFill>
                  <a:srgbClr val="2B2F33"/>
                </a:solidFill>
                <a:latin typeface="Arial"/>
              </a:rPr>
              <a:t>Initialize mbarriers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6" y="1682496"/>
            <a:ext cx="2368296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5B6268"/>
                </a:solidFill>
                <a:latin typeface="Arial"/>
              </a:rPr>
              <a:t>AB / SF full-empty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371600"/>
            <a:ext cx="4709160" cy="603504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435608"/>
            <a:ext cx="4489704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80" b="1">
                <a:solidFill>
                  <a:srgbClr val="2B2F33"/>
                </a:solidFill>
                <a:latin typeface="Arial"/>
              </a:rPr>
              <a:t>Persistent tile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82496"/>
            <a:ext cx="4489704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0">
                <a:solidFill>
                  <a:srgbClr val="5B6268"/>
                </a:solidFill>
                <a:latin typeface="Arial"/>
              </a:rPr>
              <a:t>grid = num_sms · persistent CTA pool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18688" y="1673352"/>
            <a:ext cx="448056" cy="0"/>
          </a:xfrm>
          <a:prstGeom prst="line">
            <a:avLst/>
          </a:prstGeom>
          <a:ln w="2159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64224" y="1673352"/>
            <a:ext cx="457200" cy="0"/>
          </a:xfrm>
          <a:prstGeom prst="line">
            <a:avLst/>
          </a:prstGeom>
          <a:ln w="2159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" y="2249424"/>
            <a:ext cx="6903720" cy="3255264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414016"/>
            <a:ext cx="320040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② Warp-specialized mainloop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2898648"/>
            <a:ext cx="2852928" cy="6766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2971800"/>
            <a:ext cx="1078992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19" b="1">
                <a:solidFill>
                  <a:srgbClr val="76B900"/>
                </a:solidFill>
                <a:latin typeface="Arial"/>
              </a:rPr>
              <a:t>AB producer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2971800"/>
            <a:ext cx="1444752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40" b="1">
                <a:solidFill>
                  <a:srgbClr val="2B2F33"/>
                </a:solidFill>
                <a:latin typeface="Arial"/>
              </a:rPr>
              <a:t>TMA load A /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255264"/>
            <a:ext cx="2496312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5B6268"/>
                </a:solidFill>
                <a:latin typeface="Arial"/>
              </a:rPr>
              <a:t>AB stage 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" y="3840480"/>
            <a:ext cx="2852928" cy="6766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913632"/>
            <a:ext cx="1078992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19" b="1">
                <a:solidFill>
                  <a:srgbClr val="4E7D00"/>
                </a:solidFill>
                <a:latin typeface="Arial"/>
              </a:rPr>
              <a:t>SF 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5688" y="3913632"/>
            <a:ext cx="1444752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40" b="1">
                <a:solidFill>
                  <a:srgbClr val="2B2F33"/>
                </a:solidFill>
                <a:latin typeface="Arial"/>
              </a:rPr>
              <a:t>TMA load SFA / SFB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197096"/>
            <a:ext cx="2496312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5B6268"/>
                </a:solidFill>
                <a:latin typeface="Arial"/>
              </a:rPr>
              <a:t>SF stage 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2898648"/>
            <a:ext cx="2734056" cy="1618488"/>
          </a:xfrm>
          <a:prstGeom prst="roundRect">
            <a:avLst/>
          </a:prstGeom>
          <a:solidFill>
            <a:srgbClr val="2B2F33"/>
          </a:solidFill>
          <a:ln w="1270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035808"/>
            <a:ext cx="2286000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Math WGs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3401568"/>
            <a:ext cx="228600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76B900"/>
                </a:solidFill>
                <a:latin typeface="Arial"/>
              </a:rPr>
              <a:t>wait paired stages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3694176"/>
            <a:ext cx="2286000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S2R  →  MXFP8 QMMA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023360"/>
            <a:ext cx="228600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FFFFFF"/>
                </a:solidFill>
                <a:latin typeface="Arial"/>
              </a:rPr>
              <a:t>FP32 accumulator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39896" y="3236976"/>
            <a:ext cx="630936" cy="146304"/>
          </a:xfrm>
          <a:prstGeom prst="line">
            <a:avLst/>
          </a:prstGeom>
          <a:ln w="2286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39896" y="4014215"/>
            <a:ext cx="630936" cy="164593"/>
          </a:xfrm>
          <a:prstGeom prst="line">
            <a:avLst/>
          </a:prstGeom>
          <a:ln w="22860">
            <a:solidFill>
              <a:srgbClr val="4E7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47288" y="4672584"/>
            <a:ext cx="173736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8A9197"/>
                </a:solidFill>
                <a:latin typeface="Arial"/>
              </a:rPr>
              <a:t>full / empty mbarriers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010912"/>
            <a:ext cx="6108192" cy="329184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029200"/>
            <a:ext cx="5961888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TMA copy(next) overlaps QMMA(current) across 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16368" y="3822191"/>
            <a:ext cx="265176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836408" y="2249424"/>
            <a:ext cx="3749039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4152" y="2414016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③ Epilogue dispatch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2871216"/>
            <a:ext cx="3218688" cy="667512"/>
          </a:xfrm>
          <a:prstGeom prst="roundRect">
            <a:avLst/>
          </a:prstGeom>
          <a:solidFill>
            <a:srgbClr val="E8F3D5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2926080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30" b="1">
                <a:solidFill>
                  <a:srgbClr val="76B900"/>
                </a:solidFill>
                <a:latin typeface="Arial"/>
              </a:rPr>
              <a:t>TMA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172968"/>
            <a:ext cx="2926080" cy="28346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Microsoft YaHei"/>
              </a:rPr>
              <a:t>Normal / BMM / Masked
Math WG: R2S · store warp: S2G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1583" y="3694176"/>
            <a:ext cx="3218688" cy="667512"/>
          </a:xfrm>
          <a:prstGeom prst="roundRect">
            <a:avLst/>
          </a:prstGeom>
          <a:solidFill>
            <a:srgbClr val="F2F3F4"/>
          </a:solidFill>
          <a:ln w="1651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3749039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30" b="1">
                <a:solidFill>
                  <a:srgbClr val="2B2F33"/>
                </a:solidFill>
                <a:latin typeface="Arial"/>
              </a:rPr>
              <a:t>Predicated R2G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995928"/>
            <a:ext cx="2926080" cy="28346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Microsoft YaHei"/>
              </a:rPr>
              <a:t>Grouped MoE · non-SwapAB
Math WG: RMEM→SMEM→RMEM→GMEM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1583" y="4517136"/>
            <a:ext cx="3218688" cy="667512"/>
          </a:xfrm>
          <a:prstGeom prst="roundRect">
            <a:avLst/>
          </a:prstGeom>
          <a:solidFill>
            <a:srgbClr val="EAEFFF"/>
          </a:solidFill>
          <a:ln w="1651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4572000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30" b="1">
                <a:solidFill>
                  <a:srgbClr val="2F6BFF"/>
                </a:solidFill>
                <a:latin typeface="Arial"/>
              </a:rPr>
              <a:t>SwapAB + Predicated STG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818888"/>
            <a:ext cx="2926080" cy="28346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Microsoft YaHei"/>
              </a:rPr>
              <a:t>Grouped MoE · small-M · logical M↔N
internal TileN=8 = 8-row token slice · direct RMEM→GMEM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" y="5696712"/>
            <a:ext cx="10981944" cy="530352"/>
          </a:xfrm>
          <a:prstGeom prst="roundRect">
            <a:avLst/>
          </a:prstGeom>
          <a:solidFill>
            <a:srgbClr val="2B2F33"/>
          </a:solidFill>
          <a:ln w="1270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779008"/>
            <a:ext cx="104241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Microsoft YaHei"/>
              </a:rPr>
              <a:t>Unified kernel family：</a:t>
            </a:r>
            <a:r>
              <a:rPr sz="1050" b="0">
                <a:solidFill>
                  <a:srgbClr val="FFFFFF"/>
                </a:solidFill>
                <a:latin typeface="Arial"/>
              </a:rPr>
              <a:t>Normal · BMM · Masked · Grouped MoE</a:t>
            </a:r>
            <a:r>
              <a:rPr sz="1050" b="0">
                <a:solidFill>
                  <a:srgbClr val="8A9197"/>
                </a:solidFill>
                <a:latin typeface="Arial"/>
              </a:rPr>
              <a:t>   |   </a:t>
            </a:r>
            <a:r>
              <a:rPr sz="1100" b="1">
                <a:solidFill>
                  <a:srgbClr val="76B900"/>
                </a:solidFill>
                <a:latin typeface="Arial"/>
              </a:rPr>
              <a:t>SwapAB small-M supported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0352" y="6519672"/>
            <a:ext cx="11128248" cy="0"/>
          </a:xfrm>
          <a:prstGeom prst="line">
            <a:avLst/>
          </a:prstGeom>
          <a:ln w="889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640" y="6547104"/>
            <a:ext cx="932688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40" b="0">
                <a:solidFill>
                  <a:srgbClr val="8A9197"/>
                </a:solidFill>
                <a:latin typeface="Microsoft YaHei"/>
              </a:rPr>
              <a:t>Source: sm120_blockscaled/{builder,kernel_impl,launch}.cuh; sm120_common/epilogue.cuh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40112" y="6547104"/>
            <a:ext cx="160020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40" b="0">
                <a:solidFill>
                  <a:srgbClr val="8A9197"/>
                </a:solidFill>
                <a:latin typeface="Arial"/>
              </a:rPr>
              <a:t>CuTe SM120 MXFP8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8755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Microsoft YaHei"/>
              </a:rPr>
              <a:t>Packed UE8M0 Scale → QMMA Fragment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2412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268"/>
                </a:solidFill>
                <a:latin typeface="Microsoft YaHei"/>
              </a:rPr>
              <a:t>GranK=32：4 个 scale 以 int32 搬运，在 register 中重解释成 QMMA 需要的 broadcast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6692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600" b="1">
                <a:solidFill>
                  <a:srgbClr val="76B900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4088"/>
            <a:ext cx="18013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19" b="1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15568"/>
            <a:ext cx="33832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Global-memory scale 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572768"/>
            <a:ext cx="1188720" cy="530352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11155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2B2F33"/>
                </a:solidFill>
                <a:latin typeface="Arial"/>
              </a:rPr>
              <a:t>K 0–31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56231"/>
            <a:ext cx="111556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s0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0824" y="1572768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627632"/>
            <a:ext cx="11155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2B2F33"/>
                </a:solidFill>
                <a:latin typeface="Arial"/>
              </a:rPr>
              <a:t>K 32–63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856231"/>
            <a:ext cx="111556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1" y="1572768"/>
            <a:ext cx="1188720" cy="530352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627632"/>
            <a:ext cx="11155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2B2F33"/>
                </a:solidFill>
                <a:latin typeface="Arial"/>
              </a:rPr>
              <a:t>K 64–95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856231"/>
            <a:ext cx="111556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s2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572768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27632"/>
            <a:ext cx="11155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2B2F33"/>
                </a:solidFill>
                <a:latin typeface="Arial"/>
              </a:rPr>
              <a:t>K 96–127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56231"/>
            <a:ext cx="111556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s3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1828800"/>
            <a:ext cx="475488" cy="0"/>
          </a:xfrm>
          <a:prstGeom prst="line">
            <a:avLst/>
          </a:prstGeom>
          <a:ln w="2286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5120" y="1463040"/>
            <a:ext cx="4352544" cy="749808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1609344"/>
            <a:ext cx="391363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int32 packed word  =  [ s0 | s1 | s2 | s3 ]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22576"/>
            <a:ext cx="4169663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4E7D00"/>
                </a:solidFill>
                <a:latin typeface="Arial"/>
              </a:rPr>
              <a:t>PACK_NSF = 4   ·   PACK_NK = GranK × 4 = 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761488"/>
            <a:ext cx="33832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Transport and view transform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3200400"/>
            <a:ext cx="1591056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310128"/>
            <a:ext cx="144475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E7D00"/>
                </a:solidFill>
                <a:latin typeface="Arial"/>
              </a:rPr>
              <a:t>GMEM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685032"/>
            <a:ext cx="1444752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Arial"/>
              </a:rPr>
              <a:t>packed int32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04288" y="3657600"/>
            <a:ext cx="521208" cy="0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0360" y="3200400"/>
            <a:ext cx="1591056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3310128"/>
            <a:ext cx="144475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E7D00"/>
                </a:solidFill>
                <a:latin typeface="Arial"/>
              </a:rPr>
              <a:t>TMA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685032"/>
            <a:ext cx="1444752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Arial"/>
              </a:rPr>
              <a:t>copy packed word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07992" y="3657600"/>
            <a:ext cx="521208" cy="0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84064" y="3200400"/>
            <a:ext cx="1591056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216" y="3310128"/>
            <a:ext cx="144475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E7D00"/>
                </a:solidFill>
                <a:latin typeface="Arial"/>
              </a:rPr>
              <a:t>S2R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3685032"/>
            <a:ext cx="1444752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Arial"/>
              </a:rPr>
              <a:t>packed register backing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11696" y="3657600"/>
            <a:ext cx="521208" cy="0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287768" y="3200400"/>
            <a:ext cx="1920240" cy="932688"/>
          </a:xfrm>
          <a:prstGeom prst="roundRect">
            <a:avLst/>
          </a:prstGeom>
          <a:solidFill>
            <a:srgbClr val="2B2F33"/>
          </a:solidFill>
          <a:ln w="16510"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19" y="3310128"/>
            <a:ext cx="1773936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Consolas"/>
              </a:rPr>
              <a:t>transform_fragment_for_qmma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19" y="368503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780" b="0">
                <a:solidFill>
                  <a:srgbClr val="76B900"/>
                </a:solidFill>
                <a:latin typeface="Arial"/>
              </a:rPr>
              <a:t>recast + layout transform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44584" y="3657600"/>
            <a:ext cx="466344" cy="0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765792" y="3200400"/>
            <a:ext cx="1719072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38944" y="3310128"/>
            <a:ext cx="157276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E7D00"/>
                </a:solidFill>
                <a:latin typeface="Arial"/>
              </a:rPr>
              <a:t>QMMA 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3685032"/>
            <a:ext cx="1572768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Arial"/>
              </a:rPr>
              <a:t>UE8M0 + stride-0 broadcast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4498848"/>
            <a:ext cx="5230368" cy="1170432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645152"/>
            <a:ext cx="140817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50" b="1">
                <a:solidFill>
                  <a:srgbClr val="4E7D00"/>
                </a:solidFill>
                <a:latin typeface="Arial"/>
              </a:rPr>
              <a:t>SFA partition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001768"/>
            <a:ext cx="4718304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268"/>
                </a:solidFill>
                <a:latin typeface="Microsoft YaHei"/>
              </a:rPr>
              <a:t>按 output M 分发；同一 row scale 对 K32 atom 内所有 A 元素 broadcast。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08192" y="4498848"/>
            <a:ext cx="5157216" cy="1170432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645152"/>
            <a:ext cx="140817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50" b="1">
                <a:solidFill>
                  <a:srgbClr val="4E7D00"/>
                </a:solidFill>
                <a:latin typeface="Arial"/>
              </a:rPr>
              <a:t>SFB partition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5001768"/>
            <a:ext cx="4645152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268"/>
                </a:solidFill>
                <a:latin typeface="Microsoft YaHei"/>
              </a:rPr>
              <a:t>按 output N 分发；同一 column scale 对 K32 atom 内所有 B 元素 broadcast。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" y="5852160"/>
            <a:ext cx="10588752" cy="384048"/>
          </a:xfrm>
          <a:prstGeom prst="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5916168"/>
            <a:ext cx="1025956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80" b="1">
                <a:solidFill>
                  <a:srgbClr val="4E7D00"/>
                </a:solidFill>
                <a:latin typeface="Microsoft YaHei"/>
              </a:rPr>
              <a:t>transform_fragment_for_qmma() 只改变 type/layout view：无 unpack loop、无 FP32 scale multiply、无 dequant tensor。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0352" y="6519672"/>
            <a:ext cx="11128248" cy="0"/>
          </a:xfrm>
          <a:prstGeom prst="line">
            <a:avLst/>
          </a:prstGeom>
          <a:ln w="889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640" y="6547104"/>
            <a:ext cx="932688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40" b="0">
                <a:solidFill>
                  <a:srgbClr val="8A9197"/>
                </a:solidFill>
                <a:latin typeface="Microsoft YaHei"/>
              </a:rPr>
              <a:t>Source: sm120_blockscaled/sf_mxfp8_tma_load.cuh:56–69, 129–270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40112" y="6547104"/>
            <a:ext cx="1600200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40" b="0">
                <a:solidFill>
                  <a:srgbClr val="8A9197"/>
                </a:solidFill>
                <a:latin typeface="Arial"/>
              </a:rPr>
              <a:t>CuTe SM120 MXFP8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0000"/>
            <a:ext cx="10450000" cy="4000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</a:rPr>
              <a:t>5KP E2E Serving：CuTe vs DeepGEMM MXFP8 GranK32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0000"/>
            <a:ext cx="10600000" cy="3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268"/>
                </a:solidFill>
                <a:latin typeface="Microsoft YaHei"/>
              </a:rPr>
              <a:t>Qwen3.5-35B-A3B-FP8 · TP1 · ISL=8000 / OSL=1000 · 3-round median · RTX PRO 5000 (5kp) GPU2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0000"/>
            <a:ext cx="700000" cy="35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0000"/>
            <a:ext cx="1801368" cy="2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30000"/>
            <a:ext cx="11045952" cy="540000"/>
          </a:xfrm>
          <a:prstGeom prst="round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095000"/>
            <a:ext cx="10600000" cy="42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</a:rPr>
              <a:t>crossover 在 cc=16→32：</a:t>
            </a:r>
            <a:r>
              <a:rPr sz="1300" b="0">
                <a:solidFill>
                  <a:srgbClr val="4E7D00"/>
                </a:solidFill>
                <a:latin typeface="Microsoft YaHei"/>
              </a:rPr>
              <a:t>cc=4–16 DeepGEMM 领先（CuTe 最大落后 10.4% @cc=4）；cc=32–128 CuTe 领先 +1.4% ~ +2.0%。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60000"/>
          <a:ext cx="11045952" cy="33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000"/>
                <a:gridCol w="2600000"/>
                <a:gridCol w="2600000"/>
                <a:gridCol w="2600000"/>
                <a:gridCol w="2045952"/>
              </a:tblGrid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并发 cc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CuTe out tok/s (med)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DeepGEMM out tok/s (med)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差异 % (CuTe vs DG)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领先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</a:tr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332.5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371.1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Arial"/>
                        </a:rPr>
                        <a:t>-10.4%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Microsoft YaHei"/>
                        </a:rPr>
                        <a:t>DeepGEMM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</a:tr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485.7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520.0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Arial"/>
                        </a:rPr>
                        <a:t>-6.6%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Microsoft YaHei"/>
                        </a:rPr>
                        <a:t>DeepGEMM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</a:tr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674.0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692.3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Arial"/>
                        </a:rPr>
                        <a:t>-2.6%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02A1E"/>
                          </a:solidFill>
                          <a:latin typeface="Microsoft YaHei"/>
                        </a:rPr>
                        <a:t>DeepGEMM</a:t>
                      </a:r>
                    </a:p>
                  </a:txBody>
                  <a:tcPr anchor="ctr" marL="45720" marR="45720" marT="18288" marB="18288">
                    <a:solidFill>
                      <a:srgbClr val="FBECEA"/>
                    </a:solidFill>
                  </a:tcPr>
                </a:tc>
              </a:tr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859.1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842.1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Microsoft YaHei"/>
                        </a:rPr>
                        <a:t>CuTe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4714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1043.7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1029.3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+1.4%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Microsoft YaHei"/>
                        </a:rPr>
                        <a:t>CuTe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47143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1082.6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1063.8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+1.8%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Microsoft YaHei"/>
                        </a:rPr>
                        <a:t>CuTe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180000"/>
            <a:ext cx="11045952" cy="5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>
                <a:solidFill>
                  <a:srgbClr val="8A9197"/>
                </a:solidFill>
                <a:latin typeface="Microsoft YaHei"/>
              </a:rPr>
              <a:t>轮次协议：每 cc 依次 warmup→r1（首轮 sweep）与 warmup2→r2→r3（补充 sweep），r1/r2/r3 计入 median。output tok/s = 3 轮 median，差异% = CSV cute_vs_dg_tput_pct（=median(CuTe)/median(DG)−1，正=CuTe 快，持平不计入领先）。低并发负收益保留。cc=128 为 512 prompts / 客户端并发 128，TTFT 升高与排队同时出现（未做因果拆分）。两端 backend identity 实证：CuTe=CUTE_SM120_MXFP8_32 / DG=DEEP_GEMM_MXFP8_32。数据源：task_10 benchmark.csv——本脚本已独立复核 42/42（42 raw rows 唯一且全 OK，且 56 行逐行核对硬件/GPU/模型/配置/FI+DG commit 身份）。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0000"/>
            <a:ext cx="10450000" cy="4000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5KP Kernel Benchmark：CuTe vs DeepGEMM MXFP8 GranK32 MoE GEMM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0000"/>
            <a:ext cx="10600000" cy="3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268"/>
                </a:solidFill>
                <a:latin typeface="Microsoft YaHei"/>
              </a:rPr>
              <a:t>RTX PRO 5000 Blackwell (5kp) · 单卡（1 GPU）· prefill 大 M · FC1 (G1) / FC2 (G2) · 3-round median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0000"/>
            <a:ext cx="700000" cy="35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0000"/>
            <a:ext cx="1801368" cy="2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30000"/>
            <a:ext cx="11045952" cy="540000"/>
          </a:xfrm>
          <a:prstGeom prst="round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095000"/>
            <a:ext cx="10600000" cy="42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</a:rPr>
              <a:t>22 个可配对 case CuTe 全部领先 DeepGEMM，</a:t>
            </a:r>
            <a:r>
              <a:rPr sz="1300" b="0">
                <a:solidFill>
                  <a:srgbClr val="4E7D00"/>
                </a:solidFill>
                <a:latin typeface="Microsoft YaHei"/>
              </a:rPr>
              <a:t>speedup 1.07× ~ 1.31×</a:t>
            </a:r>
            <a:r>
              <a:rPr sz="1300" b="0">
                <a:solidFill>
                  <a:srgbClr val="1A1A1A"/>
                </a:solidFill>
                <a:latin typeface="Microsoft YaHei"/>
              </a:rPr>
              <a:t>（同 MXFP8-K32 recipe / GranK=32 UE8M0）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60000"/>
          <a:ext cx="11045952" cy="25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0000"/>
                <a:gridCol w="1250000"/>
                <a:gridCol w="1250000"/>
                <a:gridCol w="2115952"/>
                <a:gridCol w="1990000"/>
                <a:gridCol w="1990000"/>
              </a:tblGrid>
              <a:tr h="36571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m_pe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GEMM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CuTe TFLOPS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DeepGEMM TFLOPS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CuTe/DG</a:t>
                      </a:r>
                    </a:p>
                  </a:txBody>
                  <a:tcPr anchor="ctr" marL="45720" marR="45720" marT="18288" marB="18288">
                    <a:solidFill>
                      <a:srgbClr val="76B900"/>
                    </a:solidFill>
                  </a:tcPr>
                </a:tc>
              </a:tr>
              <a:tr h="3657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Qwen3.5-35B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FC1 (G1)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1.11×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3657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Qwen3.5-35B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FC2 (G2)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1.07×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3657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DeepSeek-V3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FC1 (G1)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1.16×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3657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DeepSeek-V3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FC2 (G2)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1.18×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3657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Qwen3-235B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FC1 (G1)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1.12×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  <a:tr h="3657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YaHei"/>
                        </a:rPr>
                        <a:t>Qwen3-235B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FC2 (G2)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E7D00"/>
                          </a:solidFill>
                          <a:latin typeface="Arial"/>
                        </a:rPr>
                        <a:t>1.11×</a:t>
                      </a:r>
                    </a:p>
                  </a:txBody>
                  <a:tcPr anchor="ctr" marL="45720" marR="45720" marT="18288" marB="18288">
                    <a:solidFill>
                      <a:srgbClr val="E8F3D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470000"/>
            <a:ext cx="11045952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40000"/>
            <a:ext cx="10600000" cy="5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效率：</a:t>
            </a:r>
            <a:r>
              <a:rPr sz="1200" b="0">
                <a:solidFill>
                  <a:srgbClr val="4E7D00"/>
                </a:solidFill>
                <a:latin typeface="Microsoft YaHei"/>
              </a:rPr>
              <a:t>CuTe peak MFU 86%</a:t>
            </a:r>
            <a:r>
              <a:rPr sz="1200" b="0">
                <a:solidFill>
                  <a:srgbClr val="1A1A1A"/>
                </a:solidFill>
                <a:latin typeface="Microsoft YaHei"/>
              </a:rPr>
              <a:t> · DeepGEMM large-M ~73–78%（同按 measured FP8 ceiling </a:t>
            </a:r>
            <a:r>
              <a:rPr sz="1200" b="0">
                <a:solidFill>
                  <a:srgbClr val="4E7D00"/>
                </a:solidFill>
                <a:latin typeface="Microsoft YaHei"/>
              </a:rPr>
              <a:t>442.8 TFLOPS</a:t>
            </a:r>
            <a:r>
              <a:rPr sz="1200" b="0">
                <a:solidFill>
                  <a:srgbClr val="1A1A1A"/>
                </a:solidFill>
                <a:latin typeface="Microsoft YaHei"/>
              </a:rPr>
              <a:t> 归一化）。DeepSeek-V3 m_pe=1024 因显存 OOM 未纳入配对。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60000"/>
            <a:ext cx="11045952" cy="4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00" b="0">
                <a:solidFill>
                  <a:srgbClr val="8A9197"/>
                </a:solidFill>
                <a:latin typeface="Microsoft YaHei"/>
              </a:rPr>
              <a:t>数据源：task_09 benchmark_report.md / run_meta.txt · RTX PRO 5000 Blackwell · host R6KD-CX8aaS-GPU-16 · GPU3 (GPU-2fdb0b79) · FlashInfer db7abc0a · DeepGEMM a6b593d (=vLLM 2.5.0) · GranK=32 / UE8M0 · 3-round median · 仅 CuTe vs DeepGEMM kernel。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875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Microsoft YaHei"/>
              </a:rPr>
              <a:t>TileK64 / GranK32：Scale Fragment → QMMA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B6268"/>
                </a:solidFill>
                <a:latin typeface="Microsoft YaHei"/>
              </a:rPr>
              <a:t>SM120 16×8×32 block-scaled QMMA · S2R ownership 不变 · transform 是 zero-copy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6692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600" b="1">
                <a:solidFill>
                  <a:srgbClr val="76B900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704088"/>
            <a:ext cx="1801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19" b="1">
                <a:solidFill>
                  <a:srgbClr val="8A9197"/>
                </a:solidFill>
                <a:latin typeface="Arial"/>
              </a:rPr>
              <a:t>NVIDIA  | 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91672" cy="420624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06984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r>
              <a:rPr sz="1120" b="1">
                <a:solidFill>
                  <a:srgbClr val="2B2F33"/>
                </a:solidFill>
                <a:latin typeface="Microsoft YaHei"/>
              </a:rPr>
              <a:t>Tile-level logical SF：</a:t>
            </a:r>
            <a:r>
              <a:rPr sz="1120" b="1">
                <a:solidFill>
                  <a:srgbClr val="4E7D00"/>
                </a:solidFill>
                <a:latin typeface="Arial"/>
              </a:rPr>
              <a:t>SFA [M128, 2]</a:t>
            </a:r>
            <a:r>
              <a:rPr sz="1120" b="0">
                <a:solidFill>
                  <a:srgbClr val="5B6268"/>
                </a:solidFill>
                <a:latin typeface="Arial"/>
              </a:rPr>
              <a:t> / </a:t>
            </a:r>
            <a:r>
              <a:rPr sz="1120" b="1">
                <a:solidFill>
                  <a:srgbClr val="1F4EBF"/>
                </a:solidFill>
                <a:latin typeface="Arial"/>
              </a:rPr>
              <a:t>SFB [N128, 2]</a:t>
            </a:r>
            <a:r>
              <a:rPr sz="1120" b="0">
                <a:solidFill>
                  <a:srgbClr val="2B2F33"/>
                </a:solidFill>
                <a:latin typeface="Microsoft YaHei"/>
              </a:rPr>
              <a:t>。一个 packed int32 覆盖 K128；图中同时展开相邻两个 TileK64。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72768"/>
            <a:ext cx="4864608" cy="2221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20" b="1">
                <a:solidFill>
                  <a:srgbClr val="1A1A1A"/>
                </a:solidFill>
                <a:latin typeface="Microsoft YaHei"/>
              </a:rPr>
              <a:t>① tCrSFA / tCrSFB packed fragment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64208"/>
            <a:ext cx="166420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1">
                <a:solidFill>
                  <a:srgbClr val="4E7D00"/>
                </a:solidFill>
                <a:latin typeface="Arial"/>
              </a:rPr>
              <a:t>每个 element = 1×int32 = 4×UE8M0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947672"/>
            <a:ext cx="1627632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Arial"/>
              </a:rPr>
              <a:t>TileK64 #0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947672"/>
            <a:ext cx="1627632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4EBF"/>
                </a:solidFill>
                <a:latin typeface="Arial"/>
              </a:rPr>
              <a:t>TileK64 #1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19" y="2148840"/>
            <a:ext cx="1627633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73552" y="2148840"/>
            <a:ext cx="1627631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45919" y="2148840"/>
            <a:ext cx="81381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Consolas"/>
              </a:rPr>
              <a:t>byte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2148840"/>
            <a:ext cx="81381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Consolas"/>
              </a:rPr>
              <a:t>byte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148840"/>
            <a:ext cx="81381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Consolas"/>
              </a:rPr>
              <a:t>byte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2148840"/>
            <a:ext cx="813816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B6268"/>
                </a:solidFill>
                <a:latin typeface="Consolas"/>
              </a:rPr>
              <a:t>byte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286000"/>
            <a:ext cx="877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30" b="1">
                <a:solidFill>
                  <a:srgbClr val="5B6268"/>
                </a:solidFill>
                <a:latin typeface="Consolas"/>
              </a:rPr>
              <a:t>tCrSF*[0]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286000"/>
            <a:ext cx="813816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19" y="2286000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59736" y="2286000"/>
            <a:ext cx="813816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9736" y="2286000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2286000"/>
            <a:ext cx="813816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2286000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7368" y="2286000"/>
            <a:ext cx="813816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2286000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2286000"/>
            <a:ext cx="3255264" cy="310896"/>
          </a:xfrm>
          <a:prstGeom prst="rect">
            <a:avLst/>
          </a:prstGeom>
          <a:noFill/>
          <a:ln w="15875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2596896"/>
            <a:ext cx="877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30" b="1">
                <a:solidFill>
                  <a:srgbClr val="5B6268"/>
                </a:solidFill>
                <a:latin typeface="Consolas"/>
              </a:rPr>
              <a:t>tCrSF*[1]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19" y="2596896"/>
            <a:ext cx="813816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19" y="2596896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59736" y="2596896"/>
            <a:ext cx="813816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9736" y="2596896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2596896"/>
            <a:ext cx="813816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2596896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7368" y="2596896"/>
            <a:ext cx="813816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87368" y="2596896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19" y="2596896"/>
            <a:ext cx="3255264" cy="310896"/>
          </a:xfrm>
          <a:prstGeom prst="rect">
            <a:avLst/>
          </a:prstGeom>
          <a:noFill/>
          <a:ln w="15875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2907792"/>
            <a:ext cx="877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30" b="1">
                <a:solidFill>
                  <a:srgbClr val="5B6268"/>
                </a:solidFill>
                <a:latin typeface="Consolas"/>
              </a:rPr>
              <a:t>tCrSF*[2]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19" y="2907792"/>
            <a:ext cx="813816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19" y="2907792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59736" y="2907792"/>
            <a:ext cx="813816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9736" y="2907792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73552" y="2907792"/>
            <a:ext cx="813816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73552" y="2907792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87368" y="2907792"/>
            <a:ext cx="813816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87368" y="2907792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19" y="2907792"/>
            <a:ext cx="3255264" cy="310896"/>
          </a:xfrm>
          <a:prstGeom prst="rect">
            <a:avLst/>
          </a:prstGeom>
          <a:noFill/>
          <a:ln w="15875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3218688"/>
            <a:ext cx="877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30" b="1">
                <a:solidFill>
                  <a:srgbClr val="5B6268"/>
                </a:solidFill>
                <a:latin typeface="Consolas"/>
              </a:rPr>
              <a:t>tCrSF*[3]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19" y="3218688"/>
            <a:ext cx="813816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19" y="3218688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59736" y="3218688"/>
            <a:ext cx="813816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59736" y="3218688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E7D00"/>
                </a:solidFill>
                <a:latin typeface="Arial"/>
              </a:rPr>
              <a:t>UE8M0 #1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73552" y="3218688"/>
            <a:ext cx="813816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73552" y="3218688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87368" y="3218688"/>
            <a:ext cx="813816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87368" y="3218688"/>
            <a:ext cx="8138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F4EBF"/>
                </a:solidFill>
                <a:latin typeface="Arial"/>
              </a:rPr>
              <a:t>UE8M0 #3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45919" y="3218688"/>
            <a:ext cx="3255264" cy="310896"/>
          </a:xfrm>
          <a:prstGeom prst="rect">
            <a:avLst/>
          </a:prstGeom>
          <a:noFill/>
          <a:ln w="15875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547872"/>
            <a:ext cx="453542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268"/>
                </a:solidFill>
                <a:latin typeface="Microsoft YaHei"/>
              </a:rPr>
              <a:t>* = A 或 B。每个粗框就是一个 packed int32；TileK64 #0 / #1 分别消费前 / 后两个 UE8M0。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5477256" y="2039112"/>
            <a:ext cx="804672" cy="1216152"/>
          </a:xfrm>
          <a:prstGeom prst="rightArrow">
            <a:avLst/>
          </a:prstGeom>
          <a:solidFill>
            <a:srgbClr val="F2F3F4"/>
          </a:solidFill>
          <a:ln w="10160">
            <a:solidFill>
              <a:srgbClr val="D7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2120" y="231343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4E7D00"/>
                </a:solidFill>
                <a:latin typeface="Arial"/>
              </a:rPr>
              <a:t>VIEW
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2120" y="2734056"/>
            <a:ext cx="640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Consolas"/>
              </a:rPr>
              <a:t>recast
+ layout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45936" y="1572768"/>
            <a:ext cx="5294376" cy="2221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10528" y="1664208"/>
            <a:ext cx="2606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</a:rPr>
              <a:t>② QMMA logical tensor 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07424" y="1618488"/>
            <a:ext cx="230428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19" b="0">
                <a:solidFill>
                  <a:srgbClr val="5B6268"/>
                </a:solidFill>
                <a:latin typeface="Consolas"/>
              </a:rPr>
              <a:t>shape  (32,4,(1,2),(1,2))
stride (0, 4,(0,1),(0,2))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87184" y="1947672"/>
            <a:ext cx="19751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4E7D00"/>
                </a:solidFill>
                <a:latin typeface="Consolas"/>
              </a:rPr>
              <a:t>k_in_sf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2288" y="1947672"/>
            <a:ext cx="19751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4EBF"/>
                </a:solidFill>
                <a:latin typeface="Consolas"/>
              </a:rPr>
              <a:t>k_in_sf =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7184" y="2148840"/>
            <a:ext cx="987552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Consolas"/>
              </a:rPr>
              <a:t>K 0…31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74736" y="2148840"/>
            <a:ext cx="987552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Consolas"/>
              </a:rPr>
              <a:t>K 32…63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62288" y="2148840"/>
            <a:ext cx="987552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Consolas"/>
              </a:rPr>
              <a:t>K 64…95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2148840"/>
            <a:ext cx="987552" cy="1188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268"/>
                </a:solidFill>
                <a:latin typeface="Consolas"/>
              </a:rPr>
              <a:t>K 96…127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2286000"/>
            <a:ext cx="6217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5B6268"/>
                </a:solidFill>
                <a:latin typeface="Consolas"/>
              </a:rPr>
              <a:t>MN0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87184" y="2286000"/>
            <a:ext cx="987552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87184" y="2286000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#0
K32 broadcast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74736" y="2286000"/>
            <a:ext cx="987552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74736" y="2286000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#1
K32 broadcast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62288" y="2286000"/>
            <a:ext cx="987552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2286000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#2
K32 broadcast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49840" y="2286000"/>
            <a:ext cx="987552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49840" y="2286000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#3
K32 broadcast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2596896"/>
            <a:ext cx="6217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5B6268"/>
                </a:solidFill>
                <a:latin typeface="Consolas"/>
              </a:rPr>
              <a:t>MN1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87184" y="2596896"/>
            <a:ext cx="987552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2596896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#0
K32 broadcast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4736" y="2596896"/>
            <a:ext cx="987552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74736" y="2596896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#1
K32 broadcast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62288" y="2596896"/>
            <a:ext cx="987552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62288" y="2596896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#2
K32 broadcast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9840" y="2596896"/>
            <a:ext cx="987552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49840" y="2596896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#3
K32 broadcast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92240" y="2907792"/>
            <a:ext cx="6217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5B6268"/>
                </a:solidFill>
                <a:latin typeface="Consolas"/>
              </a:rPr>
              <a:t>MN2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87184" y="2907792"/>
            <a:ext cx="987552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87184" y="2907792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#0
K32 broadcast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74736" y="2907792"/>
            <a:ext cx="987552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74736" y="2907792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#1
K32 broadcast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62288" y="2907792"/>
            <a:ext cx="987552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62288" y="2907792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#2
K32 broadcast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49840" y="2907792"/>
            <a:ext cx="987552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49840" y="2907792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#3
K32 broadcast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92240" y="3218688"/>
            <a:ext cx="6217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5B6268"/>
                </a:solidFill>
                <a:latin typeface="Consolas"/>
              </a:rPr>
              <a:t>MN3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87184" y="3218688"/>
            <a:ext cx="987552" cy="310896"/>
          </a:xfrm>
          <a:prstGeom prst="rect">
            <a:avLst/>
          </a:prstGeom>
          <a:solidFill>
            <a:srgbClr val="E8F3D5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87184" y="3218688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#0
K32 broadcast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74736" y="3218688"/>
            <a:ext cx="987552" cy="310896"/>
          </a:xfrm>
          <a:prstGeom prst="rect">
            <a:avLst/>
          </a:prstGeom>
          <a:solidFill>
            <a:srgbClr val="D4E9B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74736" y="3218688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4E7D00"/>
                </a:solidFill>
                <a:latin typeface="Arial"/>
              </a:rPr>
              <a:t>UE8M0 #1
K32 broadcast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62288" y="3218688"/>
            <a:ext cx="987552" cy="310896"/>
          </a:xfrm>
          <a:prstGeom prst="rect">
            <a:avLst/>
          </a:prstGeom>
          <a:solidFill>
            <a:srgbClr val="E1E9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62288" y="3218688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#2
K32 broadcast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3218688"/>
            <a:ext cx="987552" cy="310896"/>
          </a:xfrm>
          <a:prstGeom prst="rect">
            <a:avLst/>
          </a:prstGeom>
          <a:solidFill>
            <a:srgbClr val="C4D3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49840" y="3218688"/>
            <a:ext cx="98755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80" b="1">
                <a:solidFill>
                  <a:srgbClr val="1F4EBF"/>
                </a:solidFill>
                <a:latin typeface="Arial"/>
              </a:rPr>
              <a:t>UE8M0 #3
K32 broadcast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10528" y="3547872"/>
            <a:ext cx="496519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80" b="0">
                <a:solidFill>
                  <a:srgbClr val="5B6268"/>
                </a:solidFill>
                <a:latin typeface="Microsoft YaHei"/>
              </a:rPr>
              <a:t>zero-stride view：每个 QMMA atom 读取 1 个 UE8M0，并 broadcast 到对应 K32。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3959352"/>
            <a:ext cx="554126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4088" y="4050791"/>
            <a:ext cx="384048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</a:rPr>
              <a:t>③ SFA lane mapping：32 lanes → 16 M rows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35424" y="4050791"/>
            <a:ext cx="13716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4E7D00"/>
                </a:solidFill>
                <a:latin typeface="Microsoft YaHei"/>
              </a:rPr>
              <a:t>2 lanes share 1 M row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" y="43799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268"/>
                </a:solidFill>
                <a:latin typeface="Arial"/>
              </a:rPr>
              <a:t>M axis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" y="4581144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M0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71600" y="4608576"/>
            <a:ext cx="4389120" cy="137160"/>
          </a:xfrm>
          <a:prstGeom prst="rect">
            <a:avLst/>
          </a:prstGeom>
          <a:solidFill>
            <a:srgbClr val="E8F3D5"/>
          </a:solidFill>
          <a:ln w="7620">
            <a:solidFill>
              <a:srgbClr val="4E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44752" y="4590288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4E7D00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4773168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M1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71600" y="4800600"/>
            <a:ext cx="4389120" cy="137160"/>
          </a:xfrm>
          <a:prstGeom prst="rect">
            <a:avLst/>
          </a:prstGeom>
          <a:solidFill>
            <a:srgbClr val="E8F3D5"/>
          </a:solidFill>
          <a:ln w="7620">
            <a:solidFill>
              <a:srgbClr val="4E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44752" y="4782312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4E7D00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6112" y="4965192"/>
            <a:ext cx="32918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8A9197"/>
                </a:solidFill>
                <a:latin typeface="Microsoft YaHei"/>
              </a:rPr>
              <a:t>⋮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71600" y="5061204"/>
            <a:ext cx="4389120" cy="0"/>
          </a:xfrm>
          <a:prstGeom prst="line">
            <a:avLst/>
          </a:prstGeom>
          <a:ln w="1016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731520" y="5157216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M15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0" y="5184648"/>
            <a:ext cx="4389120" cy="137160"/>
          </a:xfrm>
          <a:prstGeom prst="rect">
            <a:avLst/>
          </a:prstGeom>
          <a:solidFill>
            <a:srgbClr val="E8F3D5"/>
          </a:solidFill>
          <a:ln w="7620">
            <a:solidFill>
              <a:srgbClr val="4E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44752" y="5166359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4E7D00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44168" y="5367528"/>
            <a:ext cx="44439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19" b="0">
                <a:solidFill>
                  <a:srgbClr val="5B6268"/>
                </a:solidFill>
                <a:latin typeface="Arial"/>
              </a:rPr>
              <a:t>每个 M row 的 1 个 UE8M0 broadcast 到一个 K32 QMMA atom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99048" y="3959352"/>
            <a:ext cx="554126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54496" y="4050791"/>
            <a:ext cx="384048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</a:rPr>
              <a:t>④ SFB lane mapping：32 lanes → 8 N rows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85832" y="4050791"/>
            <a:ext cx="13716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>
                <a:solidFill>
                  <a:srgbClr val="1F4EBF"/>
                </a:solidFill>
                <a:latin typeface="Microsoft YaHei"/>
              </a:rPr>
              <a:t>4 lanes share 1 N row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08776" y="43799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268"/>
                </a:solidFill>
                <a:latin typeface="Arial"/>
              </a:rPr>
              <a:t>N axis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81928" y="4581144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N0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22008" y="4608576"/>
            <a:ext cx="4389120" cy="137160"/>
          </a:xfrm>
          <a:prstGeom prst="rect">
            <a:avLst/>
          </a:prstGeom>
          <a:solidFill>
            <a:srgbClr val="E1E9FF"/>
          </a:solidFill>
          <a:ln w="7620">
            <a:solidFill>
              <a:srgbClr val="1F4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95160" y="4590288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1F4EBF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81928" y="4773168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N1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22008" y="4800600"/>
            <a:ext cx="4389120" cy="137160"/>
          </a:xfrm>
          <a:prstGeom prst="rect">
            <a:avLst/>
          </a:prstGeom>
          <a:solidFill>
            <a:srgbClr val="E1E9FF"/>
          </a:solidFill>
          <a:ln w="7620">
            <a:solidFill>
              <a:srgbClr val="1F4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95160" y="4782312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1F4EBF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446520" y="4965192"/>
            <a:ext cx="329184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8A9197"/>
                </a:solidFill>
                <a:latin typeface="Microsoft YaHei"/>
              </a:rPr>
              <a:t>⋮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922008" y="5061204"/>
            <a:ext cx="4389120" cy="0"/>
          </a:xfrm>
          <a:prstGeom prst="line">
            <a:avLst/>
          </a:prstGeom>
          <a:ln w="1016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281928" y="5157216"/>
            <a:ext cx="5303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69" b="1">
                <a:solidFill>
                  <a:srgbClr val="5B6268"/>
                </a:solidFill>
                <a:latin typeface="Consolas"/>
              </a:rPr>
              <a:t>N7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922008" y="5184648"/>
            <a:ext cx="4389120" cy="137160"/>
          </a:xfrm>
          <a:prstGeom prst="rect">
            <a:avLst/>
          </a:prstGeom>
          <a:solidFill>
            <a:srgbClr val="E1E9FF"/>
          </a:solidFill>
          <a:ln w="7620">
            <a:solidFill>
              <a:srgbClr val="1F4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995160" y="5166359"/>
            <a:ext cx="42428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1F4EBF"/>
                </a:solidFill>
                <a:latin typeface="Microsoft YaHei"/>
              </a:rPr>
              <a:t>K = 0…31：same UE8M0 scale byte (broadcast)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94576" y="5367528"/>
            <a:ext cx="44439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19" b="0">
                <a:solidFill>
                  <a:srgbClr val="5B6268"/>
                </a:solidFill>
                <a:latin typeface="Arial"/>
              </a:rPr>
              <a:t>每个 N row 的 1 个 UE8M0 broadcast 到一个 K32 QMMA atom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48640" y="5769864"/>
            <a:ext cx="11091672" cy="457200"/>
          </a:xfrm>
          <a:prstGeom prst="roundRect">
            <a:avLst/>
          </a:prstGeom>
          <a:solidFill>
            <a:srgbClr val="E8F3D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8096" y="5843016"/>
            <a:ext cx="1062532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r>
              <a:rPr sz="1150" b="1">
                <a:solidFill>
                  <a:srgbClr val="2B2F33"/>
                </a:solidFill>
                <a:latin typeface="Microsoft YaHei"/>
              </a:rPr>
              <a:t>同一物理 register：</a:t>
            </a:r>
            <a:r>
              <a:rPr sz="1150" b="1">
                <a:solidFill>
                  <a:srgbClr val="4E7D00"/>
                </a:solidFill>
                <a:latin typeface="Microsoft YaHei"/>
              </a:rPr>
              <a:t>S2R 决定 thread ownership；</a:t>
            </a:r>
            <a:r>
              <a:rPr sz="1150" b="0">
                <a:solidFill>
                  <a:srgbClr val="2B2F33"/>
                </a:solidFill>
                <a:latin typeface="Microsoft YaHei"/>
              </a:rPr>
              <a:t>view 只改变 type / tensor coordinates；</a:t>
            </a:r>
            <a:r>
              <a:rPr sz="1150" b="1">
                <a:solidFill>
                  <a:srgbClr val="1F4EBF"/>
                </a:solidFill>
                <a:latin typeface="Microsoft YaHei"/>
              </a:rPr>
              <a:t>K32 identity 始终保持。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30352" y="6519672"/>
            <a:ext cx="11128248" cy="0"/>
          </a:xfrm>
          <a:prstGeom prst="line">
            <a:avLst/>
          </a:prstGeom>
          <a:ln w="8890">
            <a:solidFill>
              <a:srgbClr val="D7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48640" y="6547104"/>
            <a:ext cx="932688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40" b="0">
                <a:solidFill>
                  <a:srgbClr val="8A9197"/>
                </a:solidFill>
                <a:latin typeface="Arial"/>
              </a:rPr>
              <a:t>Source: sf_mxfp8_tma_load.cuh · mma_traits_sm120.hpp · sm120_blockscaled/kernel_impl.cuh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40112" y="6547104"/>
            <a:ext cx="1600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40" b="0">
                <a:solidFill>
                  <a:srgbClr val="8A9197"/>
                </a:solidFill>
                <a:latin typeface="Arial"/>
              </a:rPr>
              <a:t>CuTe SM120 MXFP8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CuTe SM120 MXFP8 MoE GEMM</dc:title>
  <dc:subject>Kernel design, serving performance, and MFU</dc:subject>
  <dc:creator>NVIDIA</dc:creator>
  <cp:keywords>CuTe, SM120, MXFP8, MoE GEMM, MFU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